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37160" cy="3200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AI 求职助手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59E0B"/>
                </a:solidFill>
                <a:latin typeface="Microsoft YaHei"/>
              </a:defRPr>
              <a:lnSpc>
                <a:spcPct val="120000"/>
              </a:lnSpc>
            </a:pPr>
            <a:r>
              <a:t>“不再是 AI 替你写简历，而是 AI 帮你发现自己值多少钱，你自己决定怎么展示。”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749039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Microsoft YaHei"/>
              </a:defRPr>
              <a:lnSpc>
                <a:spcPct val="120000"/>
              </a:lnSpc>
            </a:pPr>
            <a:r>
              <a:t>🎯  核心逻辑：AI 只重组你已有的真实经历，绝不编造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6177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Microsoft YaHei"/>
              </a:defRPr>
              <a:lnSpc>
                <a:spcPct val="120000"/>
              </a:lnSpc>
            </a:pPr>
            <a:r>
              <a:t>🔄  核心流程：上传简历 → JD解析 → 匹配分析 → 用户判断 → AI生成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Microsoft YaHei"/>
              </a:defRPr>
              <a:lnSpc>
                <a:spcPct val="120000"/>
              </a:lnSpc>
            </a:pPr>
            <a:r>
              <a:t>💡  核心差异：求职机构经验“蒸馏”成 AI 判断系统 — 像工业销售助手蒸馏了采购经验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Microsoft YaHei"/>
              </a:defRPr>
              <a:lnSpc>
                <a:spcPct val="120000"/>
              </a:lnSpc>
            </a:pPr>
            <a:r>
              <a:t>AI 产品经理面试  ·  项目讲解  ·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0" y="6217920"/>
            <a:ext cx="7315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4748B"/>
                </a:solidFill>
                <a:latin typeface="Microsoft YaHei"/>
              </a:defRPr>
              <a:lnSpc>
                <a:spcPct val="120000"/>
              </a:lnSpc>
            </a:pPr>
            <a:r>
              <a:t>业务背景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为什么做这个产品？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59E0B"/>
                </a:solidFill>
                <a:latin typeface="Microsoft YaHei"/>
              </a:defRPr>
              <a:lnSpc>
                <a:spcPct val="120000"/>
              </a:lnSpc>
            </a:pPr>
            <a:r>
              <a:t>简历的本质不是“写得好”，而是“匹配得准”——但大多数人既不知道自己有什么，也不知道对方要什么。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3474720" cy="3291840"/>
          </a:xfrm>
          <a:prstGeom prst="roundRect">
            <a:avLst/>
          </a:prstGeom>
          <a:solidFill>
            <a:srgbClr val="13274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743200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4290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市面上 AI 简历工具都在「AI 替你写」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77639"/>
            <a:ext cx="29260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Microsoft YaHei"/>
              </a:defRPr>
              <a:lnSpc>
                <a:spcPct val="150000"/>
              </a:lnSpc>
            </a:pPr>
            <a:r>
              <a:t>本质是文本生成器，编造经历风险高、HR 一眼假。</a:t>
            </a:r>
            <a:br/>
            <a:r>
              <a:t>用户被动接受 AI 输出，没有判断和参与的空间。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560320"/>
            <a:ext cx="3474720" cy="3291840"/>
          </a:xfrm>
          <a:prstGeom prst="roundRect">
            <a:avLst/>
          </a:prstGeom>
          <a:solidFill>
            <a:srgbClr val="13274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79" y="2743200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34290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求职市场信息严重不对称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977639"/>
            <a:ext cx="29260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Microsoft YaHei"/>
              </a:defRPr>
              <a:lnSpc>
                <a:spcPct val="150000"/>
              </a:lnSpc>
            </a:pPr>
            <a:r>
              <a:t>求职者看不懂 JD 背后的真实需求；</a:t>
            </a:r>
            <a:br/>
            <a:r>
              <a:t>招聘方看不到简历背后的真实能力。</a:t>
            </a:r>
            <a:br/>
            <a:r>
              <a:t>双方都在迷雾中互相猜测。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560320"/>
            <a:ext cx="3474720" cy="3291840"/>
          </a:xfrm>
          <a:prstGeom prst="roundRect">
            <a:avLst/>
          </a:prstGeom>
          <a:solidFill>
            <a:srgbClr val="13274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03920" y="2743200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34290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趋势：求职机构经验可被「蒸馏」成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977639"/>
            <a:ext cx="29260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Microsoft YaHei"/>
              </a:defRPr>
              <a:lnSpc>
                <a:spcPct val="150000"/>
              </a:lnSpc>
            </a:pPr>
            <a:r>
              <a:t>求职顾问的判断逻辑、行业经验，可以像工业销售</a:t>
            </a:r>
            <a:br/>
            <a:r>
              <a:t>助手蒸馏采购经验一样，被系统化地编码进 AI。</a:t>
            </a:r>
            <a:br/>
            <a:r>
              <a:t>从「卖人脑服务」变成「可复用的 AI 系统」。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6126480"/>
            <a:ext cx="10698480" cy="502920"/>
          </a:xfrm>
          <a:prstGeom prst="roundRect">
            <a:avLst/>
          </a:prstGeom>
          <a:solidFill>
            <a:srgbClr val="1A305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61722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59E0B"/>
                </a:solidFill>
                <a:latin typeface="Microsoft YaHei"/>
              </a:defRPr>
              <a:lnSpc>
                <a:spcPct val="120000"/>
              </a:lnSpc>
            </a:pPr>
            <a:r>
              <a:t>💡 核心机会：在「AI 编造」和「人工顾问」之间，存在「AI 帮你认识自己」的第三条路 — 这才是求职者真正需要的。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4748B"/>
                </a:solidFill>
                <a:latin typeface="Microsoft YaHei"/>
              </a:defRPr>
              <a:lnSpc>
                <a:spcPct val="120000"/>
              </a:lnSpc>
            </a:pPr>
            <a:r>
              <a:t>用户痛点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两类用户，同一个困境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59E0B"/>
                </a:solidFill>
                <a:latin typeface="Microsoft YaHei"/>
              </a:defRPr>
              <a:lnSpc>
                <a:spcPct val="120000"/>
              </a:lnSpc>
            </a:pPr>
            <a:r>
              <a:t>80% 的人不知道自己适合什么，剩下 20% 的人不知道如何证明自己适合。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5303520" cy="3657600"/>
          </a:xfrm>
          <a:prstGeom prst="roundRect">
            <a:avLst/>
          </a:prstGeom>
          <a:solidFill>
            <a:srgbClr val="13274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53035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B82F6"/>
                </a:solidFill>
                <a:latin typeface="Microsoft YaHei"/>
              </a:defRPr>
              <a:lnSpc>
                <a:spcPct val="120000"/>
              </a:lnSpc>
            </a:pPr>
            <a:r>
              <a:t>👔 类型一：有方向，但简历没体现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3832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Microsoft YaHei"/>
              </a:defRPr>
              <a:lnSpc>
                <a:spcPct val="140000"/>
              </a:lnSpc>
            </a:pPr>
            <a:r>
              <a:t>• 人群：会计、计算机等有明确专业方向的人群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3192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Microsoft YaHei"/>
              </a:defRPr>
              <a:lnSpc>
                <a:spcPct val="140000"/>
              </a:lnSpc>
            </a:pPr>
            <a:r>
              <a:t>• 现状：能力实际上匹配岗位，但简历上看不出来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Microsoft YaHei"/>
              </a:defRPr>
              <a:lnSpc>
                <a:spcPct val="140000"/>
              </a:lnSpc>
            </a:pPr>
            <a:r>
              <a:t>• 典型场景：会 SQL、做过数据项目，但简历只写了「熟悉 Office」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02920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Microsoft YaHei"/>
              </a:defRPr>
              <a:lnSpc>
                <a:spcPct val="140000"/>
              </a:lnSpc>
            </a:pPr>
            <a:r>
              <a:t>• 核心矛盾：「我会，但我没写」—— 不懂如何把能力翻译成简历语言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560320"/>
            <a:ext cx="5303520" cy="3657600"/>
          </a:xfrm>
          <a:prstGeom prst="roundRect">
            <a:avLst/>
          </a:prstGeom>
          <a:solidFill>
            <a:srgbClr val="13274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560320"/>
            <a:ext cx="53035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8346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59E0B"/>
                </a:solidFill>
                <a:latin typeface="Microsoft YaHei"/>
              </a:defRPr>
              <a:lnSpc>
                <a:spcPct val="120000"/>
              </a:lnSpc>
            </a:pPr>
            <a:r>
              <a:t>🤷 类型二：没方向，经历零散（占 80%）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3832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Microsoft YaHei"/>
              </a:defRPr>
              <a:lnSpc>
                <a:spcPct val="140000"/>
              </a:lnSpc>
            </a:pPr>
            <a:r>
              <a:t>• 人群：经历多样但缺乏聚焦的迷茫求职者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93192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Microsoft YaHei"/>
              </a:defRPr>
              <a:lnSpc>
                <a:spcPct val="140000"/>
              </a:lnSpc>
            </a:pPr>
            <a:r>
              <a:t>• 现状：做过社团、实习、项目，但不知道哪个方向适合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48056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Microsoft YaHei"/>
              </a:defRPr>
              <a:lnSpc>
                <a:spcPct val="140000"/>
              </a:lnSpc>
            </a:pPr>
            <a:r>
              <a:t>• 典型场景：做过运营、写过文案、管过社群，海投无回音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502920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Microsoft YaHei"/>
              </a:defRPr>
              <a:lnSpc>
                <a:spcPct val="140000"/>
              </a:lnSpc>
            </a:pPr>
            <a:r>
              <a:t>• 核心矛盾：「我做了很多，但不知道哪个有用」—— 缺乏自我价值识别能力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6400800"/>
            <a:ext cx="10698480" cy="320040"/>
          </a:xfrm>
          <a:prstGeom prst="round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419088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Microsoft YaHei"/>
              </a:defRPr>
              <a:lnSpc>
                <a:spcPct val="120000"/>
              </a:lnSpc>
            </a:pPr>
            <a:r>
              <a:t>共同困境：面对 JD 无从下手  ·  自我认知盲区  ·  要么花钱找机构，要么用 AI 编造 — 没有中间路径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4748B"/>
                </a:solidFill>
                <a:latin typeface="Microsoft YaHei"/>
              </a:defRPr>
              <a:lnSpc>
                <a:spcPct val="120000"/>
              </a:lnSpc>
            </a:pPr>
            <a:r>
              <a:t>产品方案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AI 不替你写简历，AI 帮你发现你自己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651760" cy="2377440"/>
          </a:xfrm>
          <a:prstGeom prst="roundRect">
            <a:avLst/>
          </a:prstGeom>
          <a:solidFill>
            <a:srgbClr val="13274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237744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2441448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  <a:lnSpc>
                <a:spcPct val="120000"/>
              </a:lnSpc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📂  资料入库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40000"/>
              </a:lnSpc>
            </a:pPr>
            <a:r>
              <a:t>上传简历自动解析</a:t>
            </a:r>
            <a:br/>
            <a:r>
              <a:t>手动添加经历技能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10896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4748B"/>
                </a:solidFill>
                <a:latin typeface="Microsoft YaHei"/>
              </a:defRPr>
              <a:lnSpc>
                <a:spcPct val="120000"/>
              </a:lnSpc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194560"/>
            <a:ext cx="2651760" cy="2377440"/>
          </a:xfrm>
          <a:prstGeom prst="roundRect">
            <a:avLst/>
          </a:prstGeom>
          <a:solidFill>
            <a:srgbClr val="13274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0" y="237744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441448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  <a:lnSpc>
                <a:spcPct val="120000"/>
              </a:lnSpc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1089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🔍  JD 解析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56616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40000"/>
              </a:lnSpc>
            </a:pPr>
            <a:r>
              <a:t>输入 JD，AI 提取</a:t>
            </a:r>
            <a:br/>
            <a:r>
              <a:t>关键要求词云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0896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4748B"/>
                </a:solidFill>
                <a:latin typeface="Microsoft YaHei"/>
              </a:defRPr>
              <a:lnSpc>
                <a:spcPct val="120000"/>
              </a:lnSpc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194560"/>
            <a:ext cx="2651760" cy="2377440"/>
          </a:xfrm>
          <a:prstGeom prst="roundRect">
            <a:avLst/>
          </a:prstGeom>
          <a:solidFill>
            <a:srgbClr val="132742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219456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89520" y="237744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2441448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  <a:lnSpc>
                <a:spcPct val="120000"/>
              </a:lnSpc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1089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📊  匹配分析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56616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40000"/>
              </a:lnSpc>
            </a:pPr>
            <a:r>
              <a:t>对比「你有什么」vs</a:t>
            </a:r>
            <a:br/>
            <a:r>
              <a:t>「对方要什么」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10896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4748B"/>
                </a:solidFill>
                <a:latin typeface="Microsoft YaHei"/>
              </a:defRPr>
              <a:lnSpc>
                <a:spcPct val="120000"/>
              </a:lnSpc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2194560"/>
            <a:ext cx="2651760" cy="2377440"/>
          </a:xfrm>
          <a:prstGeom prst="roundRect">
            <a:avLst/>
          </a:prstGeom>
          <a:solidFill>
            <a:srgbClr val="13274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15600" y="237744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0" y="2441448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  <a:lnSpc>
                <a:spcPct val="120000"/>
              </a:lnSpc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1089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📄  AI 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56616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40000"/>
              </a:lnSpc>
            </a:pPr>
            <a:r>
              <a:t>基于完整资料库</a:t>
            </a:r>
            <a:br/>
            <a:r>
              <a:t>输出定制简历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2011680"/>
            <a:ext cx="3108960" cy="365760"/>
          </a:xfrm>
          <a:prstGeom prst="roundRect">
            <a:avLst/>
          </a:prstGeom>
          <a:solidFill>
            <a:srgbClr val="783A0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205740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59E0B"/>
                </a:solidFill>
                <a:latin typeface="Microsoft YaHei"/>
              </a:defRPr>
              <a:lnSpc>
                <a:spcPct val="120000"/>
              </a:lnSpc>
            </a:pPr>
            <a:r>
              <a:t>⭐ 核心差异功能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已实现的完整功能闭环：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394960"/>
            <a:ext cx="2560320" cy="502920"/>
          </a:xfrm>
          <a:prstGeom prst="roundRect">
            <a:avLst/>
          </a:prstGeom>
          <a:solidFill>
            <a:srgbClr val="1A3050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46811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个人资料库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66160" y="5394960"/>
            <a:ext cx="2560320" cy="502920"/>
          </a:xfrm>
          <a:prstGeom prst="roundRect">
            <a:avLst/>
          </a:prstGeom>
          <a:solidFill>
            <a:srgbClr val="1A3050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546811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简历解析入库 (PDF/DOCX/TXT)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5394960"/>
            <a:ext cx="2560320" cy="502920"/>
          </a:xfrm>
          <a:prstGeom prst="roundRect">
            <a:avLst/>
          </a:prstGeom>
          <a:solidFill>
            <a:srgbClr val="1A3050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546811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JD 关键词提取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35440" y="5394960"/>
            <a:ext cx="2560320" cy="502920"/>
          </a:xfrm>
          <a:prstGeom prst="roundRect">
            <a:avLst/>
          </a:prstGeom>
          <a:solidFill>
            <a:srgbClr val="1A3050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72600" y="546811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AI 定制生成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6080760"/>
            <a:ext cx="2560320" cy="502920"/>
          </a:xfrm>
          <a:prstGeom prst="roundRect">
            <a:avLst/>
          </a:prstGeom>
          <a:solidFill>
            <a:srgbClr val="1A305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615391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在线预览编辑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66160" y="6080760"/>
            <a:ext cx="2560320" cy="502920"/>
          </a:xfrm>
          <a:prstGeom prst="roundRect">
            <a:avLst/>
          </a:prstGeom>
          <a:solidFill>
            <a:srgbClr val="1A305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03320" y="615391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版本管理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6080760"/>
            <a:ext cx="2560320" cy="502920"/>
          </a:xfrm>
          <a:prstGeom prst="roundRect">
            <a:avLst/>
          </a:prstGeom>
          <a:solidFill>
            <a:srgbClr val="1A305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615391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多格式导出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35440" y="6080760"/>
            <a:ext cx="2560320" cy="502920"/>
          </a:xfrm>
          <a:prstGeom prst="roundRect">
            <a:avLst/>
          </a:prstGeom>
          <a:solidFill>
            <a:srgbClr val="1A305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72600" y="615391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匹配度评分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4748B"/>
                </a:solidFill>
                <a:latin typeface="Microsoft YaHei"/>
              </a:defRPr>
              <a:lnSpc>
                <a:spcPct val="120000"/>
              </a:lnSpc>
            </a:pPr>
            <a:r>
              <a:t>核心功能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匹配度评分 —— 让你的差距一目了然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59E0B"/>
                </a:solidFill>
                <a:latin typeface="Microsoft YaHei"/>
              </a:defRPr>
              <a:lnSpc>
                <a:spcPct val="120000"/>
              </a:lnSpc>
            </a:pPr>
            <a:r>
              <a:t>不再对着 JD 猜「我能不能投」，而是看到一张清晰的成绩单。</a:t>
            </a:r>
          </a:p>
        </p:txBody>
      </p:sp>
      <p:pic>
        <p:nvPicPr>
          <p:cNvPr id="6" name="Picture 5" descr="real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530352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22860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匹配报告的三大设计要点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292608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94436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  <a:lnSpc>
                <a:spcPct val="120000"/>
              </a:lnSpc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8803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量化评分 — 建立认知锚点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246120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40000"/>
              </a:lnSpc>
            </a:pPr>
            <a:r>
              <a:t>不是模糊的「简历不太好」，而是精确到数字。</a:t>
            </a:r>
            <a:br/>
            <a:r>
              <a:t>35/100 让用户立刻意识到差距，激发行动意愿。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416052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17880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  <a:lnSpc>
                <a:spcPct val="120000"/>
              </a:lnSpc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1148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分项拆解 — 知道从哪下手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480560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40000"/>
              </a:lnSpc>
            </a:pPr>
            <a:r>
              <a:t>已满足 ✅ + 缺失 ❌ + 原因分析 💡，结构清晰。</a:t>
            </a:r>
            <a:br/>
            <a:r>
              <a:t>用户不再迷茫，每一条缺失项都是明确的行动指令。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539496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541324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  <a:lnSpc>
                <a:spcPct val="120000"/>
              </a:lnSpc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53492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投递预判 — 帮用户理性决策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5715000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40000"/>
              </a:lnSpc>
            </a:pPr>
            <a:r>
              <a:t>给出投递成功率预估：匹配度低时不建议投递，</a:t>
            </a:r>
            <a:br/>
            <a:r>
              <a:t>避免盲目海投，把时间花在真正适合的岗位上。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6400800"/>
            <a:ext cx="10698480" cy="347472"/>
          </a:xfrm>
          <a:prstGeom prst="round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419088"/>
            <a:ext cx="10332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Microsoft YaHei"/>
              </a:defRPr>
              <a:lnSpc>
                <a:spcPct val="120000"/>
              </a:lnSpc>
            </a:pPr>
            <a:r>
              <a:t>💡 产品洞察：量化评分 + 分项拆解 = 把模糊的焦虑转化为清晰的行动路径。这是从「AI 工具」到「AI 顾问」的关键一步。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4748B"/>
                </a:solidFill>
                <a:latin typeface="Microsoft YaHei"/>
              </a:defRPr>
              <a:lnSpc>
                <a:spcPct val="120000"/>
              </a:lnSpc>
            </a:pPr>
            <a:r>
              <a:t>核心差异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引导补全 — 从「AI 替你写」到「你自己判断」</a:t>
            </a:r>
          </a:p>
        </p:txBody>
      </p:sp>
      <p:pic>
        <p:nvPicPr>
          <p:cNvPr id="5" name="Picture 4" descr="real-j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85800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用户判断路径：两个灵魂拷问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286000"/>
            <a:ext cx="3931920" cy="1097280"/>
          </a:xfrm>
          <a:prstGeom prst="roundRect">
            <a:avLst/>
          </a:prstGeom>
          <a:solidFill>
            <a:srgbClr val="0A2E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37744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Microsoft YaHei"/>
              </a:defRPr>
              <a:lnSpc>
                <a:spcPct val="120000"/>
              </a:lnSpc>
            </a:pPr>
            <a:r>
              <a:t>🤔 「这个技能我是不是其实会，只是忘了写？」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74320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40000"/>
              </a:lnSpc>
            </a:pPr>
            <a:r>
              <a:t>→ 如果有，补全到个人资料库</a:t>
            </a:r>
            <a:br/>
            <a:r>
              <a:t>→ AI 基于完整资料重新评分和生成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566160"/>
            <a:ext cx="3931920" cy="1097280"/>
          </a:xfrm>
          <a:prstGeom prst="roundRect">
            <a:avLst/>
          </a:prstGeom>
          <a:solidFill>
            <a:srgbClr val="2E0A0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365760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F4444"/>
                </a:solidFill>
                <a:latin typeface="Microsoft YaHei"/>
              </a:defRPr>
              <a:lnSpc>
                <a:spcPct val="120000"/>
              </a:lnSpc>
            </a:pPr>
            <a:r>
              <a:t>❌ 「这个技能我确实不会？」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02336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40000"/>
              </a:lnSpc>
            </a:pPr>
            <a:r>
              <a:t>→ 该岗位确实不适合你</a:t>
            </a:r>
            <a:br/>
            <a:r>
              <a:t>→ 系统诚实建议：不建议投递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9E0B"/>
                </a:solidFill>
                <a:latin typeface="Microsoft YaHei"/>
              </a:defRPr>
              <a:lnSpc>
                <a:spcPct val="120000"/>
              </a:lnSpc>
            </a:pPr>
            <a:r>
              <a:t>优化前后直观对比：35 分 → 78 分</a:t>
            </a:r>
          </a:p>
        </p:txBody>
      </p:sp>
      <p:pic>
        <p:nvPicPr>
          <p:cNvPr id="14" name="Picture 13" descr="re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029200"/>
            <a:ext cx="7315200" cy="1828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046720" y="4663440"/>
            <a:ext cx="3657600" cy="2011680"/>
          </a:xfrm>
          <a:prstGeom prst="roundRect">
            <a:avLst/>
          </a:prstGeom>
          <a:solidFill>
            <a:srgbClr val="13274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75488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核心差异化总结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1663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F4444"/>
                </a:solidFill>
                <a:latin typeface="Microsoft YaHei"/>
              </a:defRPr>
              <a:lnSpc>
                <a:spcPct val="120000"/>
              </a:lnSpc>
            </a:pPr>
            <a:r>
              <a:t>其他 AI 简历工具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422392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20000"/>
              </a:lnSpc>
            </a:pPr>
            <a:r>
              <a:t>❌ AI 直接生成 → 用户被动接受 → 可能编造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80644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B981"/>
                </a:solidFill>
                <a:latin typeface="Microsoft YaHei"/>
              </a:defRPr>
              <a:lnSpc>
                <a:spcPct val="120000"/>
              </a:lnSpc>
            </a:pPr>
            <a:r>
              <a:t>本产品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6062472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  <a:lnSpc>
                <a:spcPct val="120000"/>
              </a:lnSpc>
            </a:pPr>
            <a:r>
              <a:t>✅ AI 生成报告 → 用户主动判断 → 基于真实资料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4748B"/>
                </a:solidFill>
                <a:latin typeface="Microsoft YaHei"/>
              </a:defRPr>
              <a:lnSpc>
                <a:spcPct val="120000"/>
              </a:lnSpc>
            </a:pPr>
            <a:r>
              <a:t>总结与收获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从代码到产品，从工具到思考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59E0B"/>
                </a:solidFill>
                <a:latin typeface="Microsoft YaHei"/>
              </a:defRPr>
              <a:lnSpc>
                <a:spcPct val="120000"/>
              </a:lnSpc>
            </a:pPr>
            <a:r>
              <a:t>一个求职工具的终极价值不是写出更漂亮的简历，而是帮用户想清楚自己是谁、值多少钱。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560320" cy="2926080"/>
          </a:xfrm>
          <a:prstGeom prst="roundRect">
            <a:avLst/>
          </a:prstGeom>
          <a:solidFill>
            <a:srgbClr val="13274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B82F6"/>
                </a:solidFill>
                <a:latin typeface="Microsoft YaHei"/>
              </a:defRPr>
              <a:lnSpc>
                <a:spcPct val="120000"/>
              </a:lnSpc>
            </a:pPr>
            <a:r>
              <a:t>产品洞察力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21945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50000"/>
              </a:lnSpc>
            </a:pPr>
            <a:r>
              <a:t>准确识别「AI 编造」的行业痛点，</a:t>
            </a:r>
            <a:br/>
            <a:r>
              <a:t>定义了差异化路径——AI 应该</a:t>
            </a:r>
            <a:br/>
            <a:r>
              <a:t>扮演「镜子」而非「代笔人」。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377440"/>
            <a:ext cx="2560320" cy="2926080"/>
          </a:xfrm>
          <a:prstGeom prst="roundRect">
            <a:avLst/>
          </a:prstGeom>
          <a:solidFill>
            <a:srgbClr val="13274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56032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1089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B82F6"/>
                </a:solidFill>
                <a:latin typeface="Microsoft YaHei"/>
              </a:defRPr>
              <a:lnSpc>
                <a:spcPct val="120000"/>
              </a:lnSpc>
            </a:pPr>
            <a:r>
              <a:t>技术完整性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566160"/>
            <a:ext cx="21945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50000"/>
              </a:lnSpc>
            </a:pPr>
            <a:r>
              <a:t>独立完成 解析→分析→生成→导出</a:t>
            </a:r>
            <a:br/>
            <a:r>
              <a:t>完整产品闭环，不是 Demo，</a:t>
            </a:r>
            <a:br/>
            <a:r>
              <a:t>而是可用的全栈工具。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377440"/>
            <a:ext cx="2560320" cy="2926080"/>
          </a:xfrm>
          <a:prstGeom prst="roundRect">
            <a:avLst/>
          </a:prstGeom>
          <a:solidFill>
            <a:srgbClr val="13274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56032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089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B82F6"/>
                </a:solidFill>
                <a:latin typeface="Microsoft YaHei"/>
              </a:defRPr>
              <a:lnSpc>
                <a:spcPct val="120000"/>
              </a:lnSpc>
            </a:pPr>
            <a:r>
              <a:t>可扩展方向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66160"/>
            <a:ext cx="21945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50000"/>
              </a:lnSpc>
            </a:pPr>
            <a:r>
              <a:t>求职机构的经验可被「蒸馏」进 AI，</a:t>
            </a:r>
            <a:br/>
            <a:r>
              <a:t>形成可复用的判断逻辑库——</a:t>
            </a:r>
            <a:br/>
            <a:r>
              <a:t>类比工业销售助手的知识蒸馏。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377440"/>
            <a:ext cx="2560320" cy="2926080"/>
          </a:xfrm>
          <a:prstGeom prst="roundRect">
            <a:avLst/>
          </a:prstGeom>
          <a:solidFill>
            <a:srgbClr val="13274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56032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1089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B82F6"/>
                </a:solidFill>
                <a:latin typeface="Microsoft YaHei"/>
              </a:defRPr>
              <a:lnSpc>
                <a:spcPct val="120000"/>
              </a:lnSpc>
            </a:pPr>
            <a:r>
              <a:t>复合能力展示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566160"/>
            <a:ext cx="21945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icrosoft YaHei"/>
              </a:defRPr>
              <a:lnSpc>
                <a:spcPct val="150000"/>
              </a:lnSpc>
            </a:pPr>
            <a:r>
              <a:t>全栈开发 + 产品设计 +</a:t>
            </a:r>
            <a:br/>
            <a:r>
              <a:t>用户洞察 + 商业思考，</a:t>
            </a:r>
            <a:br/>
            <a:r>
              <a:t>展现 AI PM 的完整能力模型。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577840"/>
            <a:ext cx="10698480" cy="640080"/>
          </a:xfrm>
          <a:prstGeom prst="roundRect">
            <a:avLst/>
          </a:prstGeom>
          <a:solidFill>
            <a:srgbClr val="1A305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650992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F5F9"/>
                </a:solidFill>
                <a:latin typeface="Microsoft YaHei"/>
              </a:defRPr>
              <a:lnSpc>
                <a:spcPct val="120000"/>
              </a:lnSpc>
            </a:pPr>
            <a:r>
              <a:t>“这个项目的核心命题是：AI 不该替代人的判断，而应该放大人的自我认知。”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008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  <a:lnSpc>
                <a:spcPct val="120000"/>
              </a:lnSpc>
            </a:pPr>
            <a:r>
              <a:t>AI 求职助手  ·  从「AI替你写」到「AI帮你发现自己」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